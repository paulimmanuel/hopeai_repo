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68" r:id="rId3"/>
    <p:sldId id="267" r:id="rId4"/>
    <p:sldId id="288" r:id="rId5"/>
    <p:sldId id="269" r:id="rId6"/>
    <p:sldId id="273" r:id="rId7"/>
    <p:sldId id="289" r:id="rId8"/>
    <p:sldId id="274" r:id="rId9"/>
    <p:sldId id="275" r:id="rId10"/>
    <p:sldId id="290" r:id="rId11"/>
    <p:sldId id="276" r:id="rId12"/>
    <p:sldId id="277" r:id="rId13"/>
    <p:sldId id="291" r:id="rId14"/>
    <p:sldId id="278" r:id="rId15"/>
    <p:sldId id="279" r:id="rId16"/>
    <p:sldId id="292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64" r:id="rId2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6/4/2026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6/4/2026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22" name="Straight Connector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23" name="Straight Connector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1" name="Straight Connector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3" name="Straight Connector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6/4/2026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6/4/2026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6/4/2026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6" name="Rectangle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7" name="Straight Connector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6/4/2026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6/4/2026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6/4/2026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6" name="Straight Connector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Week 4.2 Clustering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Paul Immanuel J</a:t>
            </a:r>
          </a:p>
          <a:p>
            <a:r>
              <a:rPr lang="en-US" dirty="0"/>
              <a:t>Hope AI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K-Means Clustering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48BF806-2778-708D-E6B9-ACFBAE7BBD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8033" y="2035087"/>
            <a:ext cx="4976821" cy="41248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8042A3-3646-887D-4165-111386D7653D}"/>
              </a:ext>
            </a:extLst>
          </p:cNvPr>
          <p:cNvSpPr txBox="1"/>
          <p:nvPr/>
        </p:nvSpPr>
        <p:spPr>
          <a:xfrm>
            <a:off x="3046445" y="3248999"/>
            <a:ext cx="6092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2736C3-7E11-8BEF-5673-D4A6B3FC26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889" y="2024215"/>
            <a:ext cx="5282891" cy="41357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7191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K-Means Clustering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IN" sz="1600" dirty="0"/>
              <a:t>K-Means is an unsupervised machine learning algorithm used to group similar data points into clusters. </a:t>
            </a:r>
          </a:p>
          <a:p>
            <a:pPr algn="just">
              <a:lnSpc>
                <a:spcPct val="120000"/>
              </a:lnSpc>
            </a:pPr>
            <a:r>
              <a:rPr lang="en-IN" sz="1600" dirty="0"/>
              <a:t>The algorithm partitions the dataset into K predefined clusters by minimizing the distance between data points and their respective cluster centroids.</a:t>
            </a:r>
          </a:p>
          <a:p>
            <a:pPr marL="0" indent="0" algn="just">
              <a:lnSpc>
                <a:spcPct val="120000"/>
              </a:lnSpc>
              <a:buNone/>
            </a:pPr>
            <a:r>
              <a:rPr lang="en-IN" sz="1600" b="1" dirty="0"/>
              <a:t>How it works:</a:t>
            </a:r>
          </a:p>
          <a:p>
            <a:pPr algn="just">
              <a:lnSpc>
                <a:spcPct val="120000"/>
              </a:lnSpc>
            </a:pPr>
            <a:r>
              <a:rPr lang="en-IN" sz="1600" dirty="0"/>
              <a:t>Select the number of clusters (K). </a:t>
            </a:r>
          </a:p>
          <a:p>
            <a:pPr algn="just">
              <a:lnSpc>
                <a:spcPct val="120000"/>
              </a:lnSpc>
            </a:pPr>
            <a:r>
              <a:rPr lang="en-IN" sz="1600" dirty="0"/>
              <a:t>Initialize cluster centroids. </a:t>
            </a:r>
          </a:p>
          <a:p>
            <a:pPr algn="just">
              <a:lnSpc>
                <a:spcPct val="120000"/>
              </a:lnSpc>
            </a:pPr>
            <a:r>
              <a:rPr lang="en-IN" sz="1600" dirty="0"/>
              <a:t>Assign data points to the nearest centroid. </a:t>
            </a:r>
          </a:p>
          <a:p>
            <a:pPr algn="just">
              <a:lnSpc>
                <a:spcPct val="120000"/>
              </a:lnSpc>
            </a:pPr>
            <a:r>
              <a:rPr lang="en-IN" sz="1600" dirty="0"/>
              <a:t>Recalculate centroids. </a:t>
            </a:r>
          </a:p>
          <a:p>
            <a:pPr algn="just">
              <a:lnSpc>
                <a:spcPct val="120000"/>
              </a:lnSpc>
            </a:pPr>
            <a:r>
              <a:rPr lang="en-IN" sz="1600" dirty="0"/>
              <a:t>Repeat until convergence. 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366C3-5321-3BA9-715C-2E4DE3E6E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906377C-9D63-BA20-E0B0-EC9E0074C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K-Means Clustering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C59EF39-E08F-83A3-6CB6-BAE91DC27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/>
              <a:t>Result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dirty="0"/>
              <a:t>The Elbow Method was used to determine the optimal number of clusters. The customers were successfully divided into five distinct groups.</a:t>
            </a:r>
          </a:p>
        </p:txBody>
      </p:sp>
    </p:spTree>
    <p:extLst>
      <p:ext uri="{BB962C8B-B14F-4D97-AF65-F5344CB8AC3E}">
        <p14:creationId xmlns:p14="http://schemas.microsoft.com/office/powerpoint/2010/main" val="2199115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Agglomerative Clustering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6561651" y="2708920"/>
            <a:ext cx="4814586" cy="346328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1800" dirty="0"/>
              <a:t>Agglomerative Clustering is a hierarchical clustering technique that follows a bottom-up approach. Initially, each data point forms its own cluster, and clusters are merged step by step based on similarity.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ECF49C-7D50-B47B-ED48-1F1756D8B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187" y="1772816"/>
            <a:ext cx="5126008" cy="42485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9333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2D780-307C-4F3D-9EDF-3C695575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990744D-6ED9-517A-FE0E-E9ABF8D91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Agglomerative Clustering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DF48B88-1900-0284-B20C-7FEDD5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436" y="1844824"/>
            <a:ext cx="9782801" cy="432737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IN" sz="1600" b="1" dirty="0"/>
              <a:t>Working</a:t>
            </a:r>
          </a:p>
          <a:p>
            <a:pPr algn="just">
              <a:lnSpc>
                <a:spcPct val="100000"/>
              </a:lnSpc>
            </a:pPr>
            <a:r>
              <a:rPr lang="en-IN" sz="1600" dirty="0"/>
              <a:t>Start with each data point as an individual cluster. </a:t>
            </a:r>
          </a:p>
          <a:p>
            <a:pPr algn="just">
              <a:lnSpc>
                <a:spcPct val="100000"/>
              </a:lnSpc>
            </a:pPr>
            <a:r>
              <a:rPr lang="en-IN" sz="1600" dirty="0"/>
              <a:t>Calculate distances between clusters. </a:t>
            </a:r>
          </a:p>
          <a:p>
            <a:pPr algn="just">
              <a:lnSpc>
                <a:spcPct val="100000"/>
              </a:lnSpc>
            </a:pPr>
            <a:r>
              <a:rPr lang="en-IN" sz="1600" dirty="0"/>
              <a:t>Merge the two closest clusters. </a:t>
            </a:r>
          </a:p>
          <a:p>
            <a:pPr algn="just">
              <a:lnSpc>
                <a:spcPct val="100000"/>
              </a:lnSpc>
            </a:pPr>
            <a:r>
              <a:rPr lang="en-IN" sz="1600" dirty="0"/>
              <a:t>Continue merging until the required number of clusters is obtained.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IN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1600" b="1" dirty="0"/>
              <a:t>Application</a:t>
            </a:r>
          </a:p>
          <a:p>
            <a:pPr algn="just">
              <a:lnSpc>
                <a:spcPct val="100000"/>
              </a:lnSpc>
            </a:pPr>
            <a:r>
              <a:rPr lang="en-IN" sz="1600" dirty="0"/>
              <a:t>Agglomerative Clustering helps identify customer groups by </a:t>
            </a:r>
            <a:r>
              <a:rPr lang="en-IN" sz="1600" dirty="0" err="1"/>
              <a:t>analyzing</a:t>
            </a:r>
            <a:r>
              <a:rPr lang="en-IN" sz="1600" dirty="0"/>
              <a:t> similarities in purchasing </a:t>
            </a:r>
            <a:r>
              <a:rPr lang="en-IN" sz="1600" dirty="0" err="1"/>
              <a:t>behavior</a:t>
            </a:r>
            <a:r>
              <a:rPr lang="en-IN" sz="1600" dirty="0"/>
              <a:t> and income patterns.</a:t>
            </a:r>
          </a:p>
        </p:txBody>
      </p:sp>
    </p:spTree>
    <p:extLst>
      <p:ext uri="{BB962C8B-B14F-4D97-AF65-F5344CB8AC3E}">
        <p14:creationId xmlns:p14="http://schemas.microsoft.com/office/powerpoint/2010/main" val="1066798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8AA19-A89A-DF76-BF72-C3A8D0BCC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5686DD7-C82A-4D56-8690-4B47F4984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Agglomerative Clustering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AE90448-6EEE-8017-71E9-D126D46A7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/>
              <a:t>Result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dirty="0"/>
              <a:t>The dendrogram was used to visualize the cluster formation process, and customers were grouped into meaningful clusters.</a:t>
            </a:r>
          </a:p>
        </p:txBody>
      </p:sp>
    </p:spTree>
    <p:extLst>
      <p:ext uri="{BB962C8B-B14F-4D97-AF65-F5344CB8AC3E}">
        <p14:creationId xmlns:p14="http://schemas.microsoft.com/office/powerpoint/2010/main" val="2859332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CABB-F2DD-082B-E2B2-178464CF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344E4-A555-75AE-AA4D-F1CBD64B5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Affinity Propagation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646DF6-2C53-DACB-6F59-89C2BDE98332}"/>
              </a:ext>
            </a:extLst>
          </p:cNvPr>
          <p:cNvSpPr txBox="1"/>
          <p:nvPr/>
        </p:nvSpPr>
        <p:spPr>
          <a:xfrm>
            <a:off x="3046445" y="3248999"/>
            <a:ext cx="6092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53A8F3-D2C1-CC7B-2223-7AAB759DE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673" y="1772816"/>
            <a:ext cx="7068326" cy="4279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2540493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CB502-1F7F-98EA-D4A0-11674B1C2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BA892E6-087E-6FFC-C81E-DCCF891DF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Affinity Propagation	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6F88DC4-25D3-6F55-A906-6AEF491EF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600" dirty="0"/>
              <a:t>Affinity Propagation is a clustering algorithm that automatically determines the number of clusters by identifying representative data points called exemplars.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How it works: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Every data point is considered a potential cluster </a:t>
            </a:r>
            <a:r>
              <a:rPr lang="en-IN" sz="1600" dirty="0" err="1"/>
              <a:t>center</a:t>
            </a:r>
            <a:r>
              <a:rPr lang="en-IN" sz="1600" dirty="0"/>
              <a:t>.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Messages are exchanged between points.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Suitable exemplars are selected.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Clusters are formed around the exemplars.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Advantages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Does not require specifying the number of clusters.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Automatically finds cluster </a:t>
            </a:r>
            <a:r>
              <a:rPr lang="en-IN" sz="1600" dirty="0" err="1"/>
              <a:t>centers</a:t>
            </a:r>
            <a:r>
              <a:rPr lang="en-IN" sz="1600" dirty="0"/>
              <a:t>.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Effective for complex datasets. </a:t>
            </a:r>
          </a:p>
        </p:txBody>
      </p:sp>
    </p:spTree>
    <p:extLst>
      <p:ext uri="{BB962C8B-B14F-4D97-AF65-F5344CB8AC3E}">
        <p14:creationId xmlns:p14="http://schemas.microsoft.com/office/powerpoint/2010/main" val="87067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87397-5D0A-AE99-C24E-8353C3EFD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D1AE659-CE71-BE93-2DCD-BA1B2FF7A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Affinity Propagation	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EE5AEF3-5B3C-5969-4AAB-70C98D1B4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Result</a:t>
            </a:r>
          </a:p>
          <a:p>
            <a:pPr>
              <a:lnSpc>
                <a:spcPct val="150000"/>
              </a:lnSpc>
            </a:pPr>
            <a:r>
              <a:rPr lang="en-IN" sz="1800" dirty="0"/>
              <a:t>The algorithm grouped customers based on their similarity and automatically determined cluster representatives.</a:t>
            </a:r>
          </a:p>
        </p:txBody>
      </p:sp>
    </p:spTree>
    <p:extLst>
      <p:ext uri="{BB962C8B-B14F-4D97-AF65-F5344CB8AC3E}">
        <p14:creationId xmlns:p14="http://schemas.microsoft.com/office/powerpoint/2010/main" val="99885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83FF2-B261-113D-CC38-386561B6E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20F07-4EC1-2A62-E2C6-9B97907B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Mean Shift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321082-3A23-CFFB-B000-842FEDA6E468}"/>
              </a:ext>
            </a:extLst>
          </p:cNvPr>
          <p:cNvSpPr txBox="1"/>
          <p:nvPr/>
        </p:nvSpPr>
        <p:spPr>
          <a:xfrm>
            <a:off x="3046445" y="3248999"/>
            <a:ext cx="6092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3BE353-AF10-81B8-B8D3-D0E992B1D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673" y="1700808"/>
            <a:ext cx="7068326" cy="4279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874898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AE232-E0EB-B3D3-1290-F04A0F066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1A0CCEC-A06D-7DBF-E797-F0C210E0A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Mean Shift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2EB4480-518A-2AF2-2AFA-CC9E1AC9A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600" dirty="0"/>
              <a:t>Mean Shift is a centroid-based clustering algorithm that identifies clusters by shifting data points toward regions with higher data density.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How it works: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Select a window around each point.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Compute the mean of points within the window.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Shift the window to the mean location.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Repeat until convergence.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Advantages: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Does not require specifying the number of clusters.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Can detect clusters of arbitrary shapes.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Useful for density-based grouping. </a:t>
            </a:r>
          </a:p>
        </p:txBody>
      </p:sp>
    </p:spTree>
    <p:extLst>
      <p:ext uri="{BB962C8B-B14F-4D97-AF65-F5344CB8AC3E}">
        <p14:creationId xmlns:p14="http://schemas.microsoft.com/office/powerpoint/2010/main" val="600839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5E3C1-F911-4F3E-B08E-C13767418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FEFA2CA-6D25-635C-1AEF-E2E411A4B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Mean Shift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345B3A8-2FF2-AB68-034D-933349565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Result: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Mean Shift successfully identified customer clusters by locating dense regions 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26126373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59B14-3143-6196-91D6-D339AED31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8FB30-CB73-2B81-ED48-90304588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Spectral Clustering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0E164C-B9B1-D293-32C3-2551E84C4FF9}"/>
              </a:ext>
            </a:extLst>
          </p:cNvPr>
          <p:cNvSpPr txBox="1"/>
          <p:nvPr/>
        </p:nvSpPr>
        <p:spPr>
          <a:xfrm>
            <a:off x="3046445" y="3248999"/>
            <a:ext cx="6092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9E9EE2-6203-24AA-AAED-8795E9A07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673" y="1556792"/>
            <a:ext cx="7068326" cy="4279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64372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59AF1-1857-958E-37D5-F9E517232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722703C-A29D-D354-214F-BC3B06B4E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Spectral Clustering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A5BE36D-0B68-6C3F-7AD7-9B4FFC9A7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3436" y="1600200"/>
            <a:ext cx="9782801" cy="485313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600" dirty="0"/>
              <a:t>Spectral Clustering is a graph-based clustering algorithm that uses the eigenvalues of a similarity matrix to perform dimensionality reduction before clustering.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How it works: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Construct a similarity graph.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Compute the graph Laplacian.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Calculate eigenvectors.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Apply clustering on the transformed data.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Advantages: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Works well with non-linear data.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Effective for complex cluster structures.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Produces high-quality clusters. </a:t>
            </a:r>
          </a:p>
        </p:txBody>
      </p:sp>
    </p:spTree>
    <p:extLst>
      <p:ext uri="{BB962C8B-B14F-4D97-AF65-F5344CB8AC3E}">
        <p14:creationId xmlns:p14="http://schemas.microsoft.com/office/powerpoint/2010/main" val="1026005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8FB37-2FE0-359D-9D0E-9CB75AA01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90A3FF7-9C69-50C6-320C-E1438C10D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Spectral Clustering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42AB99E-E65A-9DBD-D0DD-E680B8EAB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Result: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dirty="0"/>
              <a:t>Spectral Clustering grouped customers into distinct segments based on similarity relationships within the dataset.</a:t>
            </a:r>
          </a:p>
        </p:txBody>
      </p:sp>
    </p:spTree>
    <p:extLst>
      <p:ext uri="{BB962C8B-B14F-4D97-AF65-F5344CB8AC3E}">
        <p14:creationId xmlns:p14="http://schemas.microsoft.com/office/powerpoint/2010/main" val="30462546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D0727-CD53-3A19-B127-97F81A750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34D70-CDBB-82D5-31E2-92F925100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Hierarchical Clustering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A95044-AF96-E932-E6D3-41423EDB93A7}"/>
              </a:ext>
            </a:extLst>
          </p:cNvPr>
          <p:cNvSpPr txBox="1"/>
          <p:nvPr/>
        </p:nvSpPr>
        <p:spPr>
          <a:xfrm>
            <a:off x="3046445" y="3248999"/>
            <a:ext cx="6092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F47E05-3AD9-D4E6-4320-467F5CE1D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673" y="1700808"/>
            <a:ext cx="7068326" cy="4279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27646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AE3A3-DC9E-C435-74D6-DA082B9C5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DC6F49B-D295-9A4A-1C11-B181DC24C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Hierarchical Clustering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4C33B0D-89F0-058B-A10C-42564760F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600" dirty="0"/>
              <a:t>Hierarchical Clustering builds a hierarchy of clusters by either merging smaller clusters or splitting larger ones.</a:t>
            </a:r>
          </a:p>
          <a:p>
            <a:pPr marL="0" indent="0">
              <a:lnSpc>
                <a:spcPct val="100000"/>
              </a:lnSpc>
              <a:buNone/>
            </a:pPr>
            <a:endParaRPr lang="en-IN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Agglomerative Clustering (Bottom-Up):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This approach begins with each data point treated as an individual cluster.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The algorithm then progressively combines the most similar clusters until the desired clustering structure is achieved.</a:t>
            </a:r>
          </a:p>
          <a:p>
            <a:pPr>
              <a:lnSpc>
                <a:spcPct val="100000"/>
              </a:lnSpc>
            </a:pPr>
            <a:endParaRPr lang="en-IN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Divisive Clustering (Top-Down):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In this method, all data points initially belong to a single cluster.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The algorithm repeatedly divides clusters into smaller groups based on their differences, creating a hierarchical structure.</a:t>
            </a:r>
          </a:p>
        </p:txBody>
      </p:sp>
    </p:spTree>
    <p:extLst>
      <p:ext uri="{BB962C8B-B14F-4D97-AF65-F5344CB8AC3E}">
        <p14:creationId xmlns:p14="http://schemas.microsoft.com/office/powerpoint/2010/main" val="4154260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15DC5-C1F1-8253-66CC-70152FCA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DD9FA-FA08-708E-7AA6-BC3DC76B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</a:t>
            </a:r>
            <a:r>
              <a:rPr lang="en-US" dirty="0" err="1"/>
              <a:t>DBScan</a:t>
            </a:r>
            <a:r>
              <a:rPr lang="en-US" dirty="0"/>
              <a:t> Clustering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9DBC05-2E7C-9950-2CA7-2D775EFE7EF6}"/>
              </a:ext>
            </a:extLst>
          </p:cNvPr>
          <p:cNvSpPr txBox="1"/>
          <p:nvPr/>
        </p:nvSpPr>
        <p:spPr>
          <a:xfrm>
            <a:off x="3046445" y="3248999"/>
            <a:ext cx="6092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C5E1B6-FC94-2FC8-4359-285131713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628" y="1417637"/>
            <a:ext cx="7772415" cy="49834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10938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DE90E-F56D-70F4-DC6F-32E157314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F2BAA15-05DD-D4EB-C66D-5DD9292E6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</a:t>
            </a:r>
            <a:r>
              <a:rPr lang="en-US" dirty="0" err="1"/>
              <a:t>DBScan</a:t>
            </a:r>
            <a:r>
              <a:rPr lang="en-US" dirty="0"/>
              <a:t> Clustering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E73B5E3-A22C-29D4-EC9B-355C6770F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IN" sz="1600" dirty="0"/>
              <a:t>DBSCAN is a density-based clustering algorithm that forms clusters by connecting points located close to one another.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Points that do not belong to any dense region are treated as noise or outliers.</a:t>
            </a:r>
          </a:p>
          <a:p>
            <a:pPr marL="0" indent="0">
              <a:lnSpc>
                <a:spcPct val="100000"/>
              </a:lnSpc>
              <a:buNone/>
            </a:pPr>
            <a:endParaRPr lang="en-IN" sz="1600" b="1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Key parameters: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/>
              <a:t>	</a:t>
            </a:r>
            <a:r>
              <a:rPr lang="en-IN" sz="1600" b="1" dirty="0"/>
              <a:t>eps</a:t>
            </a:r>
            <a:r>
              <a:rPr lang="en-IN" sz="1600" dirty="0"/>
              <a:t>: Defines the </a:t>
            </a:r>
            <a:r>
              <a:rPr lang="en-IN" sz="1600" dirty="0" err="1"/>
              <a:t>neighborhood</a:t>
            </a:r>
            <a:r>
              <a:rPr lang="en-IN" sz="1600" dirty="0"/>
              <a:t> radius around a point.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600" dirty="0"/>
              <a:t>	</a:t>
            </a:r>
            <a:r>
              <a:rPr lang="en-IN" sz="1600" b="1" dirty="0" err="1"/>
              <a:t>min_samples</a:t>
            </a:r>
            <a:r>
              <a:rPr lang="en-IN" sz="1600" dirty="0"/>
              <a:t>: Specifies the minimum number of points required within that radius for a region to be considered dense.</a:t>
            </a:r>
          </a:p>
          <a:p>
            <a:pPr>
              <a:lnSpc>
                <a:spcPct val="100000"/>
              </a:lnSpc>
            </a:pPr>
            <a:endParaRPr lang="en-IN" sz="1600" dirty="0"/>
          </a:p>
          <a:p>
            <a:pPr>
              <a:lnSpc>
                <a:spcPct val="100000"/>
              </a:lnSpc>
            </a:pPr>
            <a:r>
              <a:rPr lang="en-IN" sz="1600" dirty="0"/>
              <a:t>The algorithm evaluates each point by looking at the number of </a:t>
            </a:r>
            <a:r>
              <a:rPr lang="en-IN" sz="1600" dirty="0" err="1"/>
              <a:t>neighboring</a:t>
            </a:r>
            <a:r>
              <a:rPr lang="en-IN" sz="1600" dirty="0"/>
              <a:t> points within the eps distance.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If a point has at least </a:t>
            </a:r>
            <a:r>
              <a:rPr lang="en-IN" sz="1600" dirty="0" err="1"/>
              <a:t>min_samples</a:t>
            </a:r>
            <a:r>
              <a:rPr lang="en-IN" sz="1600" dirty="0"/>
              <a:t> </a:t>
            </a:r>
            <a:r>
              <a:rPr lang="en-IN" sz="1600" dirty="0" err="1"/>
              <a:t>neighbors</a:t>
            </a:r>
            <a:r>
              <a:rPr lang="en-IN" sz="1600" dirty="0"/>
              <a:t>, it becomes part of a cluster; otherwise,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it may be </a:t>
            </a:r>
            <a:r>
              <a:rPr lang="en-IN" sz="1600" dirty="0" err="1"/>
              <a:t>labeled</a:t>
            </a:r>
            <a:r>
              <a:rPr lang="en-IN" sz="1600" dirty="0"/>
              <a:t> as a border point or noise, depending on its surroundings.</a:t>
            </a:r>
          </a:p>
        </p:txBody>
      </p:sp>
    </p:spTree>
    <p:extLst>
      <p:ext uri="{BB962C8B-B14F-4D97-AF65-F5344CB8AC3E}">
        <p14:creationId xmlns:p14="http://schemas.microsoft.com/office/powerpoint/2010/main" val="2929292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08EEA-7230-2E9C-5C42-C37A83353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B6AC2-5AC5-3DC0-8EB1-592F67958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Optics Clustering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CF1406-F07E-7813-F691-32730E203C0A}"/>
              </a:ext>
            </a:extLst>
          </p:cNvPr>
          <p:cNvSpPr txBox="1"/>
          <p:nvPr/>
        </p:nvSpPr>
        <p:spPr>
          <a:xfrm>
            <a:off x="3046445" y="3248999"/>
            <a:ext cx="6092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ED6657-D0EC-D528-EE87-4D33AB6F3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673" y="1628800"/>
            <a:ext cx="7068326" cy="4279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20511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32308-F3F2-B096-AEDC-D11261BB3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7049BCC-3E5B-2813-B695-E13FB4FBF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Optics Clustering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5029786-A10D-70B1-0224-D947FBC60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600" dirty="0"/>
              <a:t>It is a density-based clustering technique designed to identify clusters of varying densities within a dataset.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Similar to DBSCAN, OPTICS groups points that are densely packed together while treating points in sparse regions as potential noise or outliers.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Instead of directly assigning points to clusters, OPTICS generates an ordered sequence of data points that reflects the underlying density-based structure of the dataset.</a:t>
            </a:r>
          </a:p>
          <a:p>
            <a:pPr marL="0" indent="0">
              <a:lnSpc>
                <a:spcPct val="100000"/>
              </a:lnSpc>
              <a:buNone/>
            </a:pPr>
            <a:endParaRPr lang="en-IN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600" b="1" dirty="0"/>
              <a:t>Advantages: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The algorithm produces a reachability plot, which helps visualize changes in density across the data. </a:t>
            </a:r>
          </a:p>
          <a:p>
            <a:pPr>
              <a:lnSpc>
                <a:spcPct val="100000"/>
              </a:lnSpc>
            </a:pPr>
            <a:r>
              <a:rPr lang="en-IN" sz="1600" dirty="0"/>
              <a:t>This plot can be used to identify meaningful clusters and understand the overall clustering pattern.</a:t>
            </a:r>
          </a:p>
        </p:txBody>
      </p:sp>
    </p:spTree>
    <p:extLst>
      <p:ext uri="{BB962C8B-B14F-4D97-AF65-F5344CB8AC3E}">
        <p14:creationId xmlns:p14="http://schemas.microsoft.com/office/powerpoint/2010/main" val="10037136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7C667-25B5-E287-98DD-3DA3BDF41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D513-53C5-B42D-05C5-3090B411F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Birch Clustering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FB8921-5464-4189-3BD0-C27B590C9D9D}"/>
              </a:ext>
            </a:extLst>
          </p:cNvPr>
          <p:cNvSpPr txBox="1"/>
          <p:nvPr/>
        </p:nvSpPr>
        <p:spPr>
          <a:xfrm>
            <a:off x="3046445" y="3248999"/>
            <a:ext cx="6092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3992E0-8DC3-B589-FA04-C6F4755AB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289" y="1556792"/>
            <a:ext cx="6355093" cy="4279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68632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08AC7-1C37-B410-4E53-D97A102A2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4E3F87A-435F-5F8B-F063-D96A1B0F8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Birch Clustering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569F9C9A-36F7-EF8F-24E1-EDD444C57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Builds a compact CF (Clustering Feature) tree by incrementally processing data points.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Organizes data into a hierarchical structure, making it efficient for large datasets.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Stores data as summarized cluster representations rather than individual points.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Performs the final clustering step using the information contained in the leaf nodes of the CF tree.</a:t>
            </a:r>
          </a:p>
        </p:txBody>
      </p:sp>
    </p:spTree>
    <p:extLst>
      <p:ext uri="{BB962C8B-B14F-4D97-AF65-F5344CB8AC3E}">
        <p14:creationId xmlns:p14="http://schemas.microsoft.com/office/powerpoint/2010/main" val="4062737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3A3CFA-90E0-BE65-055B-A870F0A59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908" y="1628800"/>
            <a:ext cx="3456384" cy="1944216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41285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h 16x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h education presentation with Pi  (widescreen).potx" id="{DF132673-7A8C-4FB7-A35E-0123B6C0D98B}" vid="{CCAAB50D-2EF2-4925-80C2-C83131AE58AC}"/>
    </a:ext>
  </a:extLst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Math education presentation with Pi  (widescreen)</Template>
  <TotalTime>35</TotalTime>
  <Words>936</Words>
  <Application>Microsoft Office PowerPoint</Application>
  <PresentationFormat>Custom</PresentationFormat>
  <Paragraphs>114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Euphemia</vt:lpstr>
      <vt:lpstr>Math 16x9</vt:lpstr>
      <vt:lpstr>Week 4.2 Clustering</vt:lpstr>
      <vt:lpstr>1. K-Means Clustering</vt:lpstr>
      <vt:lpstr>1. K-Means Clustering</vt:lpstr>
      <vt:lpstr>1. K-Means Clustering</vt:lpstr>
      <vt:lpstr>2. Agglomerative Clustering</vt:lpstr>
      <vt:lpstr>2. Agglomerative Clustering</vt:lpstr>
      <vt:lpstr>2. Agglomerative Clustering</vt:lpstr>
      <vt:lpstr>3. Affinity Propagation</vt:lpstr>
      <vt:lpstr>3. Affinity Propagation </vt:lpstr>
      <vt:lpstr>3. Affinity Propagation </vt:lpstr>
      <vt:lpstr>4. Mean Shift</vt:lpstr>
      <vt:lpstr>4. Mean Shift</vt:lpstr>
      <vt:lpstr>4. Mean Shift</vt:lpstr>
      <vt:lpstr>5. Spectral Clustering</vt:lpstr>
      <vt:lpstr>5. Spectral Clustering</vt:lpstr>
      <vt:lpstr>5. Spectral Clustering</vt:lpstr>
      <vt:lpstr>6. Hierarchical Clustering</vt:lpstr>
      <vt:lpstr>6. Hierarchical Clustering</vt:lpstr>
      <vt:lpstr>7. DBScan Clustering</vt:lpstr>
      <vt:lpstr>7. DBScan Clustering</vt:lpstr>
      <vt:lpstr>8. Optics Clustering</vt:lpstr>
      <vt:lpstr>8. Optics Clustering</vt:lpstr>
      <vt:lpstr>9. Birch Clustering</vt:lpstr>
      <vt:lpstr>9. Birch Clustering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Immanuel J</dc:creator>
  <cp:lastModifiedBy>Paul Immanuel J</cp:lastModifiedBy>
  <cp:revision>14</cp:revision>
  <dcterms:created xsi:type="dcterms:W3CDTF">2026-06-04T04:37:58Z</dcterms:created>
  <dcterms:modified xsi:type="dcterms:W3CDTF">2026-06-04T05:13:12Z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